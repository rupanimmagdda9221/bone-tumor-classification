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240bcca-e581-39ff-d044-a0cca4be1740}">
          <p14:sldIdLst>
            <p14:sldId id="256"/>
            <p14:sldId id="257"/>
            <p14:sldId id="258"/>
            <p14:sldId id="259"/>
          </p14:sldIdLst>
        </p14:section>
        <p14:section name="Background" id="{f8c12b41-af1d-581c-82de-a85cd49dc8e6}">
          <p14:sldIdLst>
            <p14:sldId id="260"/>
            <p14:sldId id="261"/>
          </p14:sldIdLst>
        </p14:section>
        <p14:section name="Method" id="{72e8d697-be38-797a-9043-a2d862b4f818}">
          <p14:sldIdLst>
            <p14:sldId id="262"/>
            <p14:sldId id="263"/>
            <p14:sldId id="264"/>
            <p14:sldId id="265"/>
            <p14:sldId id="266"/>
          </p14:sldIdLst>
        </p14:section>
        <p14:section name="Results" id="{2f866e79-0bbd-55a1-9480-4856b648b10f}">
          <p14:sldIdLst>
            <p14:sldId id="267"/>
            <p14:sldId id="268"/>
            <p14:sldId id="269"/>
            <p14:sldId id="270"/>
          </p14:sldIdLst>
        </p14:section>
        <p14:section name="Explainability and Demo" id="{e9bd4b17-6866-256f-51b3-d53fce1d7d54}">
          <p14:sldIdLst>
            <p14:sldId id="271"/>
            <p14:sldId id="272"/>
            <p14:sldId id="273"/>
          </p14:sldIdLst>
        </p14:section>
        <p14:section name="Conclusion" id="{9e8772c1-6025-8aef-6499-6673646332f5}">
          <p14:sldIdLst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E30"/>
                </a:solidFill>
                <a:latin typeface="+mn-lt"/>
              </a:rPr>
              <a:t>Test-set scores (malignant class for precision / recall / F1)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augmentation (proposed)</c:v>
                </c:pt>
              </c:strCache>
            </c:strRef>
          </c:tx>
          <c:spPr>
            <a:solidFill>
              <a:srgbClr val="0F525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</c:v>
                </c:pt>
                <c:pt idx="1">
                  <c:v>0.692</c:v>
                </c:pt>
                <c:pt idx="2">
                  <c:v>0.706</c:v>
                </c:pt>
                <c:pt idx="3">
                  <c:v>0.699</c:v>
                </c:pt>
                <c:pt idx="4">
                  <c:v>0.945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augmentation</c:v>
                </c:pt>
              </c:strCache>
            </c:strRef>
          </c:tx>
          <c:spPr>
            <a:solidFill>
              <a:srgbClr val="8AB6B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0.875</c:v>
                </c:pt>
                <c:pt idx="1">
                  <c:v>0.674</c:v>
                </c:pt>
                <c:pt idx="2">
                  <c:v>0.608</c:v>
                </c:pt>
                <c:pt idx="3">
                  <c:v>0.639</c:v>
                </c:pt>
                <c:pt idx="4">
                  <c:v>0.901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E2E1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guide. One line: we built and evaluated a ResNet50 system that classifies bone-tumor X-rays as benign or malignant and explains each prediction with Grad-CAM.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quickly; the core of the talk is the results, explainability and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manual interpretation is time-consuming and benign and malignant tumors can look similar. Our goal is a fast, consistent first-pass classifier with an explanation, explicitly not a diagnostic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objectives declared in Review 1. Each is implemented and backed by evidence shown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work shows CNNs and transfer learning work on bone-tumor radiographs. Several studies are limited to one anatomical site, use complex attention models, or call for external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maps to a concrete design choice in our system; the augmentation choice and the explainability are both evaluated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BTXRD is a public dataset of 3,746 radiographs; we use the 1,867 tumor images. Malignant cases are only 18%, so the classes are imbalanced. The test split is held out completely.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pipeline. The same preprocessing function is used for the training data and for images uploaded in the app, so predictions in the demo match the evaluated model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 is identical for training, testing and the app. Augmentation is applied only during training, and the ablation later shows it improves malignant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 learning in two stages: first the new head on frozen ImageNet features, then fine-tuning of the deepest blocks at a lower learning rate. The checkpoint with the best validation F1 is kept.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and PyTorch for the model, scikit-learn for metrics, Gradio for the prototype. It runs on Mac, Windows and Google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accuracy keeps rising while validation flattens - classic overfitting - which is why early stopping on validation F1 selects epoch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all four metrics from Review 1. Point out that accuracy alone is misleading with an 82/18 class split; malignant recall of 70.6% is the key clinical-style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Specificity 93.0%, sensitivity 70.6%. The ROC curve shows a lower threshold would catch more malignant tumors at the cost of more false alarms - a future-work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data split and settings; only augmentation differs. Augmentation mainly improves malignant recall. Caveat: one training run per setting, so part of the gap may be run-to-run variation.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Grad-CAM shows where the model looked, not whether it is right. Use the right-hand case to show why a radiologist must review every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by confidence band is computed on the test set and quoted live in the app. The full gallery of misclassified X-rays with heatmaps is in outputs/misclassified.png.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order: (1) samples/malignant_IMG001650.png - correct malignant; (2) samples/benign_IMG000636.png - correct benign; (3) samples/hardcase_missed_malignant_IMG001690.png - a known miss. Backup: this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limitations before the examiners ask. None of these invalidate the prototype, but they bound what the numbers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technical part: all objectives met, results measured on held-out data, limitations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item addresses a limitation from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[1]-[6] are from the Review 1 literature survey; [7] is the dataset; [8] and [9] are the ResNet and Grad-CAM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the demo app open in a browser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7223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72237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guide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 Reddy University  |  Department of AIML  |  Major Project - Final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4"/>
                </a:solidFill>
              </a:rPr>
              <a:t>MAJOR PROJECT - FINAL REVIEW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7223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Intelligent Deep Learning-Based System for Bone Tumor Classification Using X-Ray Images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886200"/>
            <a:ext cx="7223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Nandini - 2311CS020469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Rupa Lakshmi - 2311CS020480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Varshitha - 2311CS020499</a:t>
            </a:r>
            <a:endParaRPr lang="en-US" sz="15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Asst. Prof. Vineela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AIML, School of Engineering, Malla Reddy University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2023 - 2027</a:t>
            </a:r>
            <a:endParaRPr lang="en-US" sz="1500" dirty="0"/>
          </a:p>
        </p:txBody>
      </p:sp>
      <p:pic>
        <p:nvPicPr>
          <p:cNvPr id="5" name="Title X-ray" descr="Sample bone X-ray from BTX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213860"/>
            <a:ext cx="3383280" cy="4430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Outline item 1"/>
          <p:cNvSpPr/>
          <p:nvPr/>
        </p:nvSpPr>
        <p:spPr>
          <a:xfrm>
            <a:off x="548640" y="1371600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utline number circle 1"/>
          <p:cNvSpPr/>
          <p:nvPr/>
        </p:nvSpPr>
        <p:spPr>
          <a:xfrm>
            <a:off x="658368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Problem and motivation</a:t>
            </a:r>
            <a:endParaRPr lang="en-US" sz="1600" dirty="0"/>
          </a:p>
        </p:txBody>
      </p:sp>
      <p:sp>
        <p:nvSpPr>
          <p:cNvPr id="7" name="Outline item 2"/>
          <p:cNvSpPr/>
          <p:nvPr/>
        </p:nvSpPr>
        <p:spPr>
          <a:xfrm>
            <a:off x="548640" y="2157984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Outline number circle 2"/>
          <p:cNvSpPr/>
          <p:nvPr/>
        </p:nvSpPr>
        <p:spPr>
          <a:xfrm>
            <a:off x="658368" y="22494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494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Objectives and status</a:t>
            </a:r>
            <a:endParaRPr lang="en-US" sz="1600" dirty="0"/>
          </a:p>
        </p:txBody>
      </p:sp>
      <p:sp>
        <p:nvSpPr>
          <p:cNvPr id="11" name="Outline item 3"/>
          <p:cNvSpPr/>
          <p:nvPr/>
        </p:nvSpPr>
        <p:spPr>
          <a:xfrm>
            <a:off x="548640" y="2944368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Outline number circle 3"/>
          <p:cNvSpPr/>
          <p:nvPr/>
        </p:nvSpPr>
        <p:spPr>
          <a:xfrm>
            <a:off x="658368" y="30358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035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Literature review and research gap</a:t>
            </a:r>
            <a:endParaRPr lang="en-US" sz="1600" dirty="0"/>
          </a:p>
        </p:txBody>
      </p:sp>
      <p:sp>
        <p:nvSpPr>
          <p:cNvPr id="15" name="Outline item 4"/>
          <p:cNvSpPr/>
          <p:nvPr/>
        </p:nvSpPr>
        <p:spPr>
          <a:xfrm>
            <a:off x="548640" y="3730752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Outline number circle 4"/>
          <p:cNvSpPr/>
          <p:nvPr/>
        </p:nvSpPr>
        <p:spPr>
          <a:xfrm>
            <a:off x="658368" y="3822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822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Dataset (BTXRD)</a:t>
            </a:r>
            <a:endParaRPr lang="en-US" sz="1600" dirty="0"/>
          </a:p>
        </p:txBody>
      </p:sp>
      <p:sp>
        <p:nvSpPr>
          <p:cNvPr id="19" name="Outline item 5"/>
          <p:cNvSpPr/>
          <p:nvPr/>
        </p:nvSpPr>
        <p:spPr>
          <a:xfrm>
            <a:off x="548640" y="4517136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Outline number circle 5"/>
          <p:cNvSpPr/>
          <p:nvPr/>
        </p:nvSpPr>
        <p:spPr>
          <a:xfrm>
            <a:off x="658368" y="46085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6085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Methodology and model</a:t>
            </a:r>
            <a:endParaRPr lang="en-US" sz="1600" dirty="0"/>
          </a:p>
        </p:txBody>
      </p:sp>
      <p:sp>
        <p:nvSpPr>
          <p:cNvPr id="23" name="Outline item 6"/>
          <p:cNvSpPr/>
          <p:nvPr/>
        </p:nvSpPr>
        <p:spPr>
          <a:xfrm>
            <a:off x="548640" y="5303520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Outline number circle 6"/>
          <p:cNvSpPr/>
          <p:nvPr/>
        </p:nvSpPr>
        <p:spPr>
          <a:xfrm>
            <a:off x="658368" y="5394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3949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Tools and technologies</a:t>
            </a:r>
            <a:endParaRPr lang="en-US" sz="1600" dirty="0"/>
          </a:p>
        </p:txBody>
      </p:sp>
      <p:sp>
        <p:nvSpPr>
          <p:cNvPr id="27" name="Outline item 7"/>
          <p:cNvSpPr/>
          <p:nvPr/>
        </p:nvSpPr>
        <p:spPr>
          <a:xfrm>
            <a:off x="6172200" y="1371600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Outline number circle 7"/>
          <p:cNvSpPr/>
          <p:nvPr/>
        </p:nvSpPr>
        <p:spPr>
          <a:xfrm>
            <a:off x="6281928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8192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1463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Training and test results</a:t>
            </a:r>
            <a:endParaRPr lang="en-US" sz="1600" dirty="0"/>
          </a:p>
        </p:txBody>
      </p:sp>
      <p:sp>
        <p:nvSpPr>
          <p:cNvPr id="31" name="Outline item 8"/>
          <p:cNvSpPr/>
          <p:nvPr/>
        </p:nvSpPr>
        <p:spPr>
          <a:xfrm>
            <a:off x="6172200" y="2157984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Outline number circle 8"/>
          <p:cNvSpPr/>
          <p:nvPr/>
        </p:nvSpPr>
        <p:spPr>
          <a:xfrm>
            <a:off x="6281928" y="22494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81928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22494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Effect of data augmentation</a:t>
            </a:r>
            <a:endParaRPr lang="en-US" sz="1600" dirty="0"/>
          </a:p>
        </p:txBody>
      </p:sp>
      <p:sp>
        <p:nvSpPr>
          <p:cNvPr id="35" name="Outline item 9"/>
          <p:cNvSpPr/>
          <p:nvPr/>
        </p:nvSpPr>
        <p:spPr>
          <a:xfrm>
            <a:off x="6172200" y="2944368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Outline number circle 9"/>
          <p:cNvSpPr/>
          <p:nvPr/>
        </p:nvSpPr>
        <p:spPr>
          <a:xfrm>
            <a:off x="6281928" y="30358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8192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903720" y="3035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Explainability and error analysis</a:t>
            </a:r>
            <a:endParaRPr lang="en-US" sz="1600" dirty="0"/>
          </a:p>
        </p:txBody>
      </p:sp>
      <p:sp>
        <p:nvSpPr>
          <p:cNvPr id="39" name="Outline item 10"/>
          <p:cNvSpPr/>
          <p:nvPr/>
        </p:nvSpPr>
        <p:spPr>
          <a:xfrm>
            <a:off x="6172200" y="3730752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Outline number circle 10"/>
          <p:cNvSpPr/>
          <p:nvPr/>
        </p:nvSpPr>
        <p:spPr>
          <a:xfrm>
            <a:off x="6281928" y="3822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8192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3822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Prototype demo</a:t>
            </a:r>
            <a:endParaRPr lang="en-US" sz="1600" dirty="0"/>
          </a:p>
        </p:txBody>
      </p:sp>
      <p:sp>
        <p:nvSpPr>
          <p:cNvPr id="43" name="Outline item 11"/>
          <p:cNvSpPr/>
          <p:nvPr/>
        </p:nvSpPr>
        <p:spPr>
          <a:xfrm>
            <a:off x="6172200" y="4517136"/>
            <a:ext cx="53949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Outline number circle 11"/>
          <p:cNvSpPr/>
          <p:nvPr/>
        </p:nvSpPr>
        <p:spPr>
          <a:xfrm>
            <a:off x="6281928" y="46085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81928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11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903720" y="46085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Limitations, conclusion and future work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Motivation</a:t>
            </a:r>
            <a:endParaRPr lang="en-US" sz="3200" dirty="0"/>
          </a:p>
        </p:txBody>
      </p:sp>
      <p:sp>
        <p:nvSpPr>
          <p:cNvPr id="3" name="Problem icon 1 circle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Problem icon 1" descr="Problem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8191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9903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Manual review is slow and expert-dependent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828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Radiologists inspect every bone X-ray by eye; consistency depends on experience and workload.</a:t>
            </a:r>
            <a:endParaRPr lang="en-US" sz="1500" dirty="0"/>
          </a:p>
        </p:txBody>
      </p:sp>
      <p:sp>
        <p:nvSpPr>
          <p:cNvPr id="7" name="Problem icon 2 circle"/>
          <p:cNvSpPr/>
          <p:nvPr/>
        </p:nvSpPr>
        <p:spPr>
          <a:xfrm>
            <a:off x="548640" y="2880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Problem icon 2" descr="Problem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044952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86207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Benign and malignant lesions can look alike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3291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Radiographic features overlap, which makes consistent classification difficult.</a:t>
            </a:r>
            <a:endParaRPr lang="en-US" sz="1500" dirty="0"/>
          </a:p>
        </p:txBody>
      </p:sp>
      <p:sp>
        <p:nvSpPr>
          <p:cNvPr id="11" name="Problem icon 3 circle"/>
          <p:cNvSpPr/>
          <p:nvPr/>
        </p:nvSpPr>
        <p:spPr>
          <a:xfrm>
            <a:off x="548640" y="43434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Problem icon 3" descr="Problem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0799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432511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Deep learning learns visual patterns directly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47548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CNN can learn discriminative features from labelled X-rays without hand-crafted rules.</a:t>
            </a:r>
            <a:endParaRPr lang="en-US" sz="1500" dirty="0"/>
          </a:p>
        </p:txBody>
      </p:sp>
      <p:sp>
        <p:nvSpPr>
          <p:cNvPr id="15" name="Goal card"/>
          <p:cNvSpPr/>
          <p:nvPr/>
        </p:nvSpPr>
        <p:spPr>
          <a:xfrm>
            <a:off x="7680960" y="1417320"/>
            <a:ext cx="3959352" cy="4206240"/>
          </a:xfrm>
          <a:prstGeom prst="roundRect">
            <a:avLst>
              <a:gd name="adj" fmla="val 27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0010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PROJECT GOAL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001000" y="21945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a bone-tumor X-ray as benign or malignant, and show which image regions drove the decision.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001000" y="4480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A preliminary screening aid - not a replacement for a radiologist.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- All Four Achieved</a:t>
            </a:r>
            <a:endParaRPr lang="en-US" sz="3200" dirty="0"/>
          </a:p>
        </p:txBody>
      </p:sp>
      <p:sp>
        <p:nvSpPr>
          <p:cNvPr id="3" name="Objective card 1"/>
          <p:cNvSpPr/>
          <p:nvPr/>
        </p:nvSpPr>
        <p:spPr>
          <a:xfrm>
            <a:off x="548640" y="137160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OBJECTIVE 1</a:t>
            </a:r>
            <a:endParaRPr lang="en-US" sz="1200" dirty="0"/>
          </a:p>
        </p:txBody>
      </p:sp>
      <p:pic>
        <p:nvPicPr>
          <p:cNvPr id="5" name="Achieved icon 1" descr="Achiev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5448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138928" y="15910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Achieved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Design and develop a deep learning system for bone tumor classification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Trained model + working web prototype (Gradio)</a:t>
            </a:r>
            <a:endParaRPr lang="en-US" sz="1500" dirty="0"/>
          </a:p>
        </p:txBody>
      </p:sp>
      <p:sp>
        <p:nvSpPr>
          <p:cNvPr id="9" name="Objective card 2"/>
          <p:cNvSpPr/>
          <p:nvPr/>
        </p:nvSpPr>
        <p:spPr>
          <a:xfrm>
            <a:off x="6172200" y="137160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OBJECTIVE 2</a:t>
            </a:r>
            <a:endParaRPr lang="en-US" sz="1200" dirty="0"/>
          </a:p>
        </p:txBody>
      </p:sp>
      <p:pic>
        <p:nvPicPr>
          <p:cNvPr id="11" name="Achieved icon 2" descr="Achiev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5544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762488" y="15910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Achieved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1965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Preprocess X-rays: resizing, normalization and data augmentation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834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224 x 224, ImageNet normalization, 5 augmentations</a:t>
            </a:r>
            <a:endParaRPr lang="en-US" sz="1500" dirty="0"/>
          </a:p>
        </p:txBody>
      </p:sp>
      <p:sp>
        <p:nvSpPr>
          <p:cNvPr id="15" name="Objective card 3"/>
          <p:cNvSpPr/>
          <p:nvPr/>
        </p:nvSpPr>
        <p:spPr>
          <a:xfrm>
            <a:off x="548640" y="374904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OBJECTIVE 3</a:t>
            </a:r>
            <a:endParaRPr lang="en-US" sz="1200" dirty="0"/>
          </a:p>
        </p:txBody>
      </p:sp>
      <p:pic>
        <p:nvPicPr>
          <p:cNvPr id="17" name="Achieved icon 3" descr="Achiev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9319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38928" y="39684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Achieved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343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Implement a ResNet50 model for benign vs malignant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212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Two-stage transfer learning on 1,306 training images</a:t>
            </a:r>
            <a:endParaRPr lang="en-US" sz="1500" dirty="0"/>
          </a:p>
        </p:txBody>
      </p:sp>
      <p:sp>
        <p:nvSpPr>
          <p:cNvPr id="21" name="Objective card 4"/>
          <p:cNvSpPr/>
          <p:nvPr/>
        </p:nvSpPr>
        <p:spPr>
          <a:xfrm>
            <a:off x="6172200" y="374904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4652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OBJECTIVE 4</a:t>
            </a:r>
            <a:endParaRPr lang="en-US" sz="1200" dirty="0"/>
          </a:p>
        </p:txBody>
      </p:sp>
      <p:pic>
        <p:nvPicPr>
          <p:cNvPr id="23" name="Achieved icon 4" descr="Achiev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93192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762488" y="39684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Achieved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446520" y="4343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Evaluate with accuracy, precision, recall and F1-score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446520" y="5212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Accuracy 0.890 | F1 0.699 | ROC-AUC 0.945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3959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et al., 2020 (EBioMedicine)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on primary bone-tumor radiographs, binary and 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 can classify primary bone tumors from plain X-rays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Kwon et al., 2022 (PLOS ONE)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vs InceptionV3 vs EfficientNet, transfer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CNNs promising for benign / malignant / no-tumor; proximal femur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Radiology, 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+ transformer features with similar-case 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features support classification and 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Scientific Reports,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CNNs (incl. ResNet50) + explainable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 + XAI useful; osteosarcoma 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Biomed. Signal Proc. Control,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ResNet50-CBAM and CNN-Transformer hybrids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improves performance at higher 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Multi-center study,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Medical-image pretraining, external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pretraining improves robustness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and Our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IDENTIFIED GAP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OUR APPROACH</a:t>
            </a:r>
            <a:endParaRPr lang="en-US" sz="1300" dirty="0"/>
          </a:p>
        </p:txBody>
      </p:sp>
      <p:sp>
        <p:nvSpPr>
          <p:cNvPr id="5" name="Gap 1"/>
          <p:cNvSpPr/>
          <p:nvPr/>
        </p:nvSpPr>
        <p:spPr>
          <a:xfrm>
            <a:off x="548640" y="1737360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Manual X-ray review is slow and observer-dependent</a:t>
            </a:r>
            <a:endParaRPr lang="en-US" sz="1500" dirty="0"/>
          </a:p>
        </p:txBody>
      </p:sp>
      <p:pic>
        <p:nvPicPr>
          <p:cNvPr id="7" name="Arrow 1" descr="leads 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039112"/>
            <a:ext cx="329184" cy="329184"/>
          </a:xfrm>
          <a:prstGeom prst="rect">
            <a:avLst/>
          </a:prstGeom>
        </p:spPr>
      </p:pic>
      <p:sp>
        <p:nvSpPr>
          <p:cNvPr id="8" name="Approach 1"/>
          <p:cNvSpPr/>
          <p:nvPr/>
        </p:nvSpPr>
        <p:spPr>
          <a:xfrm>
            <a:off x="6400800" y="1737360"/>
            <a:ext cx="523951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1828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Automate the first-pass classification with a CNN</a:t>
            </a:r>
            <a:endParaRPr lang="en-US" sz="1500" dirty="0"/>
          </a:p>
        </p:txBody>
      </p:sp>
      <p:sp>
        <p:nvSpPr>
          <p:cNvPr id="10" name="Gap 2"/>
          <p:cNvSpPr/>
          <p:nvPr/>
        </p:nvSpPr>
        <p:spPr>
          <a:xfrm>
            <a:off x="548640" y="2852928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94436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Hand-crafted features miss complex radiographic patterns</a:t>
            </a:r>
            <a:endParaRPr lang="en-US" sz="1500" dirty="0"/>
          </a:p>
        </p:txBody>
      </p:sp>
      <p:pic>
        <p:nvPicPr>
          <p:cNvPr id="12" name="Arrow 2" descr="leads 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154680"/>
            <a:ext cx="329184" cy="329184"/>
          </a:xfrm>
          <a:prstGeom prst="rect">
            <a:avLst/>
          </a:prstGeom>
        </p:spPr>
      </p:pic>
      <p:sp>
        <p:nvSpPr>
          <p:cNvPr id="13" name="Approach 2"/>
          <p:cNvSpPr/>
          <p:nvPr/>
        </p:nvSpPr>
        <p:spPr>
          <a:xfrm>
            <a:off x="6400800" y="2852928"/>
            <a:ext cx="523951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629400" y="294436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Learn features end-to-end with ResNet50 transfer learning</a:t>
            </a:r>
            <a:endParaRPr lang="en-US" sz="1500" dirty="0"/>
          </a:p>
        </p:txBody>
      </p:sp>
      <p:sp>
        <p:nvSpPr>
          <p:cNvPr id="15" name="Gap 3"/>
          <p:cNvSpPr/>
          <p:nvPr/>
        </p:nvSpPr>
        <p:spPr>
          <a:xfrm>
            <a:off x="548640" y="3968496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405993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Class imbalance and limited data hurt generalisation</a:t>
            </a:r>
            <a:endParaRPr lang="en-US" sz="1500" dirty="0"/>
          </a:p>
        </p:txBody>
      </p:sp>
      <p:pic>
        <p:nvPicPr>
          <p:cNvPr id="17" name="Arrow 3" descr="leads 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4270248"/>
            <a:ext cx="329184" cy="329184"/>
          </a:xfrm>
          <a:prstGeom prst="rect">
            <a:avLst/>
          </a:prstGeom>
        </p:spPr>
      </p:pic>
      <p:sp>
        <p:nvSpPr>
          <p:cNvPr id="18" name="Approach 3"/>
          <p:cNvSpPr/>
          <p:nvPr/>
        </p:nvSpPr>
        <p:spPr>
          <a:xfrm>
            <a:off x="6400800" y="3968496"/>
            <a:ext cx="523951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629400" y="405993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Augmentation + class-weighted loss, measured with an ablation</a:t>
            </a:r>
            <a:endParaRPr lang="en-US" sz="1500" dirty="0"/>
          </a:p>
        </p:txBody>
      </p:sp>
      <p:sp>
        <p:nvSpPr>
          <p:cNvPr id="20" name="Gap 4"/>
          <p:cNvSpPr/>
          <p:nvPr/>
        </p:nvSpPr>
        <p:spPr>
          <a:xfrm>
            <a:off x="548640" y="5084064"/>
            <a:ext cx="51206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77240" y="517550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Black-box predictions are hard to trust</a:t>
            </a:r>
            <a:endParaRPr lang="en-US" sz="1500" dirty="0"/>
          </a:p>
        </p:txBody>
      </p:sp>
      <p:pic>
        <p:nvPicPr>
          <p:cNvPr id="22" name="Arrow 4" descr="leads 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5385816"/>
            <a:ext cx="329184" cy="329184"/>
          </a:xfrm>
          <a:prstGeom prst="rect">
            <a:avLst/>
          </a:prstGeom>
        </p:spPr>
      </p:pic>
      <p:sp>
        <p:nvSpPr>
          <p:cNvPr id="23" name="Approach 4"/>
          <p:cNvSpPr/>
          <p:nvPr/>
        </p:nvSpPr>
        <p:spPr>
          <a:xfrm>
            <a:off x="6400800" y="5084064"/>
            <a:ext cx="523951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629400" y="517550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Grad-CAM heatmap + plain-language explanation for every prediction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- BTXRD Bone Tumor X-Ray Dataset</a:t>
            </a:r>
            <a:endParaRPr lang="en-US" sz="3200" dirty="0"/>
          </a:p>
        </p:txBody>
      </p:sp>
      <p:sp>
        <p:nvSpPr>
          <p:cNvPr id="3" name="Dataset stat 1"/>
          <p:cNvSpPr/>
          <p:nvPr/>
        </p:nvSpPr>
        <p:spPr>
          <a:xfrm>
            <a:off x="548640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3,746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75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radiographs in BTXRD</a:t>
            </a:r>
            <a:endParaRPr lang="en-US" sz="1400" dirty="0"/>
          </a:p>
        </p:txBody>
      </p:sp>
      <p:sp>
        <p:nvSpPr>
          <p:cNvPr id="6" name="Dataset stat 2"/>
          <p:cNvSpPr/>
          <p:nvPr/>
        </p:nvSpPr>
        <p:spPr>
          <a:xfrm>
            <a:off x="3364992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13898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1,867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075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tumor images used</a:t>
            </a:r>
            <a:endParaRPr lang="en-US" sz="1400" dirty="0"/>
          </a:p>
        </p:txBody>
      </p:sp>
      <p:sp>
        <p:nvSpPr>
          <p:cNvPr id="9" name="Dataset stat 3"/>
          <p:cNvSpPr/>
          <p:nvPr/>
        </p:nvSpPr>
        <p:spPr>
          <a:xfrm>
            <a:off x="6181344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3898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1,525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075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benign</a:t>
            </a:r>
            <a:endParaRPr lang="en-US" sz="1400" dirty="0"/>
          </a:p>
        </p:txBody>
      </p:sp>
      <p:sp>
        <p:nvSpPr>
          <p:cNvPr id="12" name="Dataset stat 4"/>
          <p:cNvSpPr/>
          <p:nvPr/>
        </p:nvSpPr>
        <p:spPr>
          <a:xfrm>
            <a:off x="8997696" y="132588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0576" y="13898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075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malignant (18%)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5120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Split (stratified, seed 42)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Images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Malignant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Train (70%)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1,306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240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Validation (15%)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280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51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Test (15%, never seen in training)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281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51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8640" y="4846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Source: Yao et al., Scientific Data 12, 88 (2025), CC BY 4.0. Normal (no-tumor) images excluded, as defined in the project scope.</a:t>
            </a:r>
            <a:endParaRPr lang="en-US" sz="1300" dirty="0"/>
          </a:p>
        </p:txBody>
      </p:sp>
      <p:pic>
        <p:nvPicPr>
          <p:cNvPr id="17" name="Sample X-rays" descr="Two benign and two malignant sample X-ra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929" y="2788920"/>
            <a:ext cx="3989493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3" name="Pipeline step 1"/>
          <p:cNvSpPr/>
          <p:nvPr/>
        </p:nvSpPr>
        <p:spPr>
          <a:xfrm>
            <a:off x="548640" y="1417320"/>
            <a:ext cx="1673352" cy="2331720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Input X-ray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BTXRD radiograph or user upload</a:t>
            </a:r>
            <a:endParaRPr lang="en-US" sz="1400" dirty="0"/>
          </a:p>
        </p:txBody>
      </p:sp>
      <p:sp>
        <p:nvSpPr>
          <p:cNvPr id="7" name="Pipeline arrow 1"/>
          <p:cNvSpPr/>
          <p:nvPr/>
        </p:nvSpPr>
        <p:spPr>
          <a:xfrm>
            <a:off x="2240280" y="2468880"/>
            <a:ext cx="155448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Pipeline step 2"/>
          <p:cNvSpPr/>
          <p:nvPr/>
        </p:nvSpPr>
        <p:spPr>
          <a:xfrm>
            <a:off x="2414016" y="1417320"/>
            <a:ext cx="1673352" cy="2331720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51176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51176" y="196596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Preprocess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551176" y="242316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Grayscale, &lt;= 512 px, 224 x 224, normalize</a:t>
            </a:r>
            <a:endParaRPr lang="en-US" sz="1400" dirty="0"/>
          </a:p>
        </p:txBody>
      </p:sp>
      <p:sp>
        <p:nvSpPr>
          <p:cNvPr id="12" name="Pipeline arrow 2"/>
          <p:cNvSpPr/>
          <p:nvPr/>
        </p:nvSpPr>
        <p:spPr>
          <a:xfrm>
            <a:off x="4105656" y="2468880"/>
            <a:ext cx="155448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ipeline step 3"/>
          <p:cNvSpPr/>
          <p:nvPr/>
        </p:nvSpPr>
        <p:spPr>
          <a:xfrm>
            <a:off x="4279392" y="1417320"/>
            <a:ext cx="1673352" cy="2331720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16552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196596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Augment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242316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Training only: crop, flip, rotate, shift, contrast</a:t>
            </a:r>
            <a:endParaRPr lang="en-US" sz="1400" dirty="0"/>
          </a:p>
        </p:txBody>
      </p:sp>
      <p:sp>
        <p:nvSpPr>
          <p:cNvPr id="17" name="Pipeline arrow 3"/>
          <p:cNvSpPr/>
          <p:nvPr/>
        </p:nvSpPr>
        <p:spPr>
          <a:xfrm>
            <a:off x="5971032" y="2468880"/>
            <a:ext cx="155448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ipeline step 4"/>
          <p:cNvSpPr/>
          <p:nvPr/>
        </p:nvSpPr>
        <p:spPr>
          <a:xfrm>
            <a:off x="6144768" y="1417320"/>
            <a:ext cx="1673352" cy="2331720"/>
          </a:xfrm>
          <a:prstGeom prst="roundRect">
            <a:avLst>
              <a:gd name="adj" fmla="val 65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281928" y="196596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ResNet50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242316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ImageNet weights + new classifier head</a:t>
            </a:r>
            <a:endParaRPr lang="en-US" sz="1400" dirty="0"/>
          </a:p>
        </p:txBody>
      </p:sp>
      <p:sp>
        <p:nvSpPr>
          <p:cNvPr id="22" name="Pipeline arrow 4"/>
          <p:cNvSpPr/>
          <p:nvPr/>
        </p:nvSpPr>
        <p:spPr>
          <a:xfrm>
            <a:off x="7836408" y="2468880"/>
            <a:ext cx="155448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Pipeline step 5"/>
          <p:cNvSpPr/>
          <p:nvPr/>
        </p:nvSpPr>
        <p:spPr>
          <a:xfrm>
            <a:off x="8010144" y="1417320"/>
            <a:ext cx="1673352" cy="2331720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196596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Predict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147304" y="242316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Softmax: benign / malignant</a:t>
            </a:r>
            <a:endParaRPr lang="en-US" sz="1400" dirty="0"/>
          </a:p>
        </p:txBody>
      </p:sp>
      <p:sp>
        <p:nvSpPr>
          <p:cNvPr id="27" name="Pipeline arrow 5"/>
          <p:cNvSpPr/>
          <p:nvPr/>
        </p:nvSpPr>
        <p:spPr>
          <a:xfrm>
            <a:off x="9701784" y="2468880"/>
            <a:ext cx="155448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Pipeline step 6"/>
          <p:cNvSpPr/>
          <p:nvPr/>
        </p:nvSpPr>
        <p:spPr>
          <a:xfrm>
            <a:off x="9875520" y="1417320"/>
            <a:ext cx="1673352" cy="2331720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1268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0012680" y="196596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Explain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0012680" y="242316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Grad-CAM heatmap + text explanation</a:t>
            </a:r>
            <a:endParaRPr lang="en-US" sz="1400" dirty="0"/>
          </a:p>
        </p:txBody>
      </p:sp>
      <p:sp>
        <p:nvSpPr>
          <p:cNvPr id="32" name="Phase 1"/>
          <p:cNvSpPr/>
          <p:nvPr/>
        </p:nvSpPr>
        <p:spPr>
          <a:xfrm>
            <a:off x="548640" y="42062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389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PHASE 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4663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Weeks 1-3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Problem definition, literature survey, dataset collection</a:t>
            </a:r>
            <a:endParaRPr lang="en-US" sz="1500" dirty="0"/>
          </a:p>
        </p:txBody>
      </p:sp>
      <p:sp>
        <p:nvSpPr>
          <p:cNvPr id="36" name="Phase 2"/>
          <p:cNvSpPr/>
          <p:nvPr/>
        </p:nvSpPr>
        <p:spPr>
          <a:xfrm>
            <a:off x="4297680" y="42062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26280" y="4389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PHASE 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26280" y="4663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Weeks 4-6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4526280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Preprocessing, system design, model implementation</a:t>
            </a:r>
            <a:endParaRPr lang="en-US" sz="1500" dirty="0"/>
          </a:p>
        </p:txBody>
      </p:sp>
      <p:sp>
        <p:nvSpPr>
          <p:cNvPr id="40" name="Phase 3"/>
          <p:cNvSpPr/>
          <p:nvPr/>
        </p:nvSpPr>
        <p:spPr>
          <a:xfrm>
            <a:off x="8046720" y="42062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75320" y="4389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PHASE 3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75320" y="4663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Weeks 7-8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Testing, evaluation, analysis, documentation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and Data Augmentation</a:t>
            </a:r>
            <a:endParaRPr lang="en-US" sz="3200" dirty="0"/>
          </a:p>
        </p:txBody>
      </p:sp>
      <p:sp>
        <p:nvSpPr>
          <p:cNvPr id="3" name="Preprocessing card"/>
          <p:cNvSpPr/>
          <p:nvPr/>
        </p:nvSpPr>
        <p:spPr>
          <a:xfrm>
            <a:off x="548640" y="1325880"/>
            <a:ext cx="544068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ugmentation card"/>
          <p:cNvSpPr/>
          <p:nvPr/>
        </p:nvSpPr>
        <p:spPr>
          <a:xfrm>
            <a:off x="6199632" y="1325880"/>
            <a:ext cx="544068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eprocessing icon circle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Preprocessing icon" descr="Preprocess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686154"/>
            <a:ext cx="285293" cy="285293"/>
          </a:xfrm>
          <a:prstGeom prst="rect">
            <a:avLst/>
          </a:prstGeom>
        </p:spPr>
      </p:pic>
      <p:sp>
        <p:nvSpPr>
          <p:cNvPr id="7" name="Augmentation icon circle"/>
          <p:cNvSpPr/>
          <p:nvPr/>
        </p:nvSpPr>
        <p:spPr>
          <a:xfrm>
            <a:off x="6473952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Augmentation icon" descr="Augmentati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26" y="16861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6276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Preprocessing (all images)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205472" y="16276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Augmentation (training only)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3317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8-bit grayscale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Every X-ray converted to one intensity channel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Longest side &lt;= 512 px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Speeds up training without losing the 224 px detail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3 channels, 224 x 224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Grayscale replicated to RGB for the ImageNet backbone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ImageNet normalization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Mean (0.485, 0.456, 0.406), std (0.229, 0.224, 0.225)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73952" y="23317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Random resized crop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80-100% of the image area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Horizontal flip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Left and right limbs look alike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Rotation +/- 15 deg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Patient positioning varies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Translation +/- 5%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Lesion not always centred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Brightness / contrast +/- 20%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</a:rPr>
              <a:t>Exposure differs across scanners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 and Training</a:t>
            </a:r>
            <a:endParaRPr lang="en-US" sz="32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42062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ResNet50 backbone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6324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ImageNet-pretrained, 49 conv layers</a:t>
            </a:r>
            <a:endParaRPr lang="en-US" sz="1200" dirty="0"/>
          </a:p>
        </p:txBody>
      </p:sp>
      <p:sp>
        <p:nvSpPr>
          <p:cNvPr id="6" name="Layer 2"/>
          <p:cNvSpPr/>
          <p:nvPr/>
        </p:nvSpPr>
        <p:spPr>
          <a:xfrm>
            <a:off x="548640" y="2112264"/>
            <a:ext cx="4206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037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Global average pool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2037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2048 features</a:t>
            </a:r>
            <a:endParaRPr lang="en-US" sz="1200" dirty="0"/>
          </a:p>
        </p:txBody>
      </p:sp>
      <p:sp>
        <p:nvSpPr>
          <p:cNvPr id="9" name="Layer 3"/>
          <p:cNvSpPr/>
          <p:nvPr/>
        </p:nvSpPr>
        <p:spPr>
          <a:xfrm>
            <a:off x="548640" y="2898648"/>
            <a:ext cx="4206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990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Dropout 0.4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990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12" name="Layer 4"/>
          <p:cNvSpPr/>
          <p:nvPr/>
        </p:nvSpPr>
        <p:spPr>
          <a:xfrm>
            <a:off x="548640" y="3685032"/>
            <a:ext cx="4206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764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Dense 256 + ReLU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7764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15" name="Layer 5"/>
          <p:cNvSpPr/>
          <p:nvPr/>
        </p:nvSpPr>
        <p:spPr>
          <a:xfrm>
            <a:off x="548640" y="4471416"/>
            <a:ext cx="4206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628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Dropout 0.3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45628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18" name="Layer 6"/>
          <p:cNvSpPr/>
          <p:nvPr/>
        </p:nvSpPr>
        <p:spPr>
          <a:xfrm>
            <a:off x="548640" y="5257800"/>
            <a:ext cx="42062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349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Dense 2 + softmax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5349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benign | malignant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325880"/>
          <a:ext cx="64739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7365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Stage 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Freeze backbone, train head: 5 epochs, lr 1e-3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Stage 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Unfreeze layer3 + layer4: up to 20 epochs, lr 1e-4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Optimizer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AdamW, weight decay 1e-4, batch 32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Imbalance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Class-weighted cross-entropy (0.61 / 2.72)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Schedule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Halve LR when validation F1 plateaus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Stopping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Early stop after 6 epochs without val F1 gain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Selected model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Epoch 18 (stage 2, epoch 13): val F1 0.743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200" dirty="0"/>
          </a:p>
        </p:txBody>
      </p:sp>
      <p:sp>
        <p:nvSpPr>
          <p:cNvPr id="3" name="Tool 1"/>
          <p:cNvSpPr/>
          <p:nvPr/>
        </p:nvSpPr>
        <p:spPr>
          <a:xfrm>
            <a:off x="548640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ool icon 1 circle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Tool icon 1" descr="Tool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4284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3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Implementation language</a:t>
            </a:r>
            <a:endParaRPr lang="en-US" sz="1300" dirty="0"/>
          </a:p>
        </p:txBody>
      </p:sp>
      <p:sp>
        <p:nvSpPr>
          <p:cNvPr id="8" name="Tool 2"/>
          <p:cNvSpPr/>
          <p:nvPr/>
        </p:nvSpPr>
        <p:spPr>
          <a:xfrm>
            <a:off x="3364992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ool icon 2 circle"/>
          <p:cNvSpPr/>
          <p:nvPr/>
        </p:nvSpPr>
        <p:spPr>
          <a:xfrm>
            <a:off x="3593592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ool icon 2" descr="Tool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38" y="174284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3592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PyTorch 2.14 + torchvision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93592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ResNet50, training, Grad-CAM</a:t>
            </a:r>
            <a:endParaRPr lang="en-US" sz="1300" dirty="0"/>
          </a:p>
        </p:txBody>
      </p:sp>
      <p:sp>
        <p:nvSpPr>
          <p:cNvPr id="13" name="Tool 3"/>
          <p:cNvSpPr/>
          <p:nvPr/>
        </p:nvSpPr>
        <p:spPr>
          <a:xfrm>
            <a:off x="6181344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ool icon 3 circle"/>
          <p:cNvSpPr/>
          <p:nvPr/>
        </p:nvSpPr>
        <p:spPr>
          <a:xfrm>
            <a:off x="6409944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Tool icon 3" descr="Tool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90" y="174284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9944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scikit-learn + Matplotlib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09944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Metrics, confusion matrix, ROC, plots</a:t>
            </a:r>
            <a:endParaRPr lang="en-US" sz="1300" dirty="0"/>
          </a:p>
        </p:txBody>
      </p:sp>
      <p:sp>
        <p:nvSpPr>
          <p:cNvPr id="18" name="Tool 4"/>
          <p:cNvSpPr/>
          <p:nvPr/>
        </p:nvSpPr>
        <p:spPr>
          <a:xfrm>
            <a:off x="8997696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ool icon 4 circle"/>
          <p:cNvSpPr/>
          <p:nvPr/>
        </p:nvSpPr>
        <p:spPr>
          <a:xfrm>
            <a:off x="9226296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Tool icon 4" descr="Tool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942" y="174284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26296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Pillow + NumPy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226296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Image loading and preprocessing</a:t>
            </a:r>
            <a:endParaRPr lang="en-US" sz="1300" dirty="0"/>
          </a:p>
        </p:txBody>
      </p:sp>
      <p:sp>
        <p:nvSpPr>
          <p:cNvPr id="23" name="Tool 5"/>
          <p:cNvSpPr/>
          <p:nvPr/>
        </p:nvSpPr>
        <p:spPr>
          <a:xfrm>
            <a:off x="548640" y="3749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ool icon 5 circle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Tool icon 5" descr="Tool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120286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7240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Gradio 6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5212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Web prototype (upload, predict, explain)</a:t>
            </a:r>
            <a:endParaRPr lang="en-US" sz="1300" dirty="0"/>
          </a:p>
        </p:txBody>
      </p:sp>
      <p:sp>
        <p:nvSpPr>
          <p:cNvPr id="28" name="Tool 6"/>
          <p:cNvSpPr/>
          <p:nvPr/>
        </p:nvSpPr>
        <p:spPr>
          <a:xfrm>
            <a:off x="3364992" y="3749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ool icon 6 circle"/>
          <p:cNvSpPr/>
          <p:nvPr/>
        </p:nvSpPr>
        <p:spPr>
          <a:xfrm>
            <a:off x="3593592" y="3977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Tool icon 6" descr="Tool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6238" y="4120286"/>
            <a:ext cx="309067" cy="30906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593592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Apple GPU (MPS) / Colab GPU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3593592" y="5212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Training hardware</a:t>
            </a:r>
            <a:endParaRPr lang="en-US" sz="1300" dirty="0"/>
          </a:p>
        </p:txBody>
      </p:sp>
      <p:sp>
        <p:nvSpPr>
          <p:cNvPr id="33" name="Tool 7"/>
          <p:cNvSpPr/>
          <p:nvPr/>
        </p:nvSpPr>
        <p:spPr>
          <a:xfrm>
            <a:off x="6181344" y="3749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ool icon 7 circle"/>
          <p:cNvSpPr/>
          <p:nvPr/>
        </p:nvSpPr>
        <p:spPr>
          <a:xfrm>
            <a:off x="6409944" y="3977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Tool icon 7" descr="Tool icon 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590" y="4120286"/>
            <a:ext cx="309067" cy="30906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409944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Windows .bat scripts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409944" y="5212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One-click setup and demo</a:t>
            </a:r>
            <a:endParaRPr lang="en-US" sz="1300" dirty="0"/>
          </a:p>
        </p:txBody>
      </p:sp>
      <p:sp>
        <p:nvSpPr>
          <p:cNvPr id="38" name="Tool 8"/>
          <p:cNvSpPr/>
          <p:nvPr/>
        </p:nvSpPr>
        <p:spPr>
          <a:xfrm>
            <a:off x="8997696" y="3749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ool icon 8 circle"/>
          <p:cNvSpPr/>
          <p:nvPr/>
        </p:nvSpPr>
        <p:spPr>
          <a:xfrm>
            <a:off x="9226296" y="3977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Tool icon 8" descr="Tool icon 8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942" y="4120286"/>
            <a:ext cx="309067" cy="30906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226296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Google Colab notebook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9226296" y="5212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Reproduce the full pipeline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Behaviour</a:t>
            </a:r>
            <a:endParaRPr lang="en-US" sz="3200" dirty="0"/>
          </a:p>
        </p:txBody>
      </p:sp>
      <p:pic>
        <p:nvPicPr>
          <p:cNvPr id="3" name="Training curves" descr="Training and validation loss and accuracy per epo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378" y="1188720"/>
            <a:ext cx="980694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754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Epochs 1-5: stage 1 (head only). Epochs 6-24: stage 2 (fine-tuning).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1663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Training accuracy rises to 0.99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model fits the training set almost perfectly.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51663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Validation accuracy levels off at 0.87-0.90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Generalisation stops improving after the mid-teens.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51663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Early stopping keeps the best epoch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Epoch 18 (val F1 0.743) is the saved model, avoiding later overfitting.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Results (281 Unseen X-Rays)</a:t>
            </a:r>
            <a:endParaRPr lang="en-US" sz="3200" dirty="0"/>
          </a:p>
        </p:txBody>
      </p:sp>
      <p:sp>
        <p:nvSpPr>
          <p:cNvPr id="3" name="KPI 1"/>
          <p:cNvSpPr/>
          <p:nvPr/>
        </p:nvSpPr>
        <p:spPr>
          <a:xfrm>
            <a:off x="548640" y="132588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89.0%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Accuracy</a:t>
            </a:r>
            <a:endParaRPr lang="en-US" sz="1400" dirty="0"/>
          </a:p>
        </p:txBody>
      </p:sp>
      <p:sp>
        <p:nvSpPr>
          <p:cNvPr id="6" name="KPI 2"/>
          <p:cNvSpPr/>
          <p:nvPr/>
        </p:nvSpPr>
        <p:spPr>
          <a:xfrm>
            <a:off x="3364992" y="132588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2152" y="1463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ROC-AUC</a:t>
            </a:r>
            <a:endParaRPr lang="en-US" sz="1400" dirty="0"/>
          </a:p>
        </p:txBody>
      </p:sp>
      <p:sp>
        <p:nvSpPr>
          <p:cNvPr id="9" name="KPI 3"/>
          <p:cNvSpPr/>
          <p:nvPr/>
        </p:nvSpPr>
        <p:spPr>
          <a:xfrm>
            <a:off x="6181344" y="132588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18504" y="1463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70.6%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18504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Malignant recall (sensitivity)</a:t>
            </a:r>
            <a:endParaRPr lang="en-US" sz="1400" dirty="0"/>
          </a:p>
        </p:txBody>
      </p:sp>
      <p:sp>
        <p:nvSpPr>
          <p:cNvPr id="12" name="KPI 4"/>
          <p:cNvSpPr/>
          <p:nvPr/>
        </p:nvSpPr>
        <p:spPr>
          <a:xfrm>
            <a:off x="8997696" y="132588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34856" y="1463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0.699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134856" y="2423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Malignant F1-score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Test images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Benign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0.934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0.930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0.933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230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Malignant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0.692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0.706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0.699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51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Macro average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0.813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0.818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0.816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</a:rPr>
                        <a:t>281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863840" y="342900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</a:rPr>
              <a:t>Reading the numbers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Accuracy is high because most test images are benign. Malignant recall and F1 are the harder, more honest measures: the model finds 36 of 51 malignant tumors.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and ROC Curve</a:t>
            </a:r>
            <a:endParaRPr lang="en-US" sz="3200" dirty="0"/>
          </a:p>
        </p:txBody>
      </p:sp>
      <p:pic>
        <p:nvPicPr>
          <p:cNvPr id="3" name="Confusion matrix" descr="Confusion matrix on the test 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320" y="1280160"/>
            <a:ext cx="4673600" cy="4206240"/>
          </a:xfrm>
          <a:prstGeom prst="rect">
            <a:avLst/>
          </a:prstGeom>
        </p:spPr>
      </p:pic>
      <p:pic>
        <p:nvPicPr>
          <p:cNvPr id="4" name="ROC curve" descr="ROC curve, AUC 0.94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032" y="1280160"/>
            <a:ext cx="4673600" cy="4206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623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214 / 230 benign and 36 / 51 malignant correct. 15 malignant tumors missed; 16 benign X-rays flagged as malignant.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6245352" y="5623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AUC 0.945: the model ranks a malignant X-ray above a benign one 94.5% of the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Data Augmentation</a:t>
            </a:r>
            <a:endParaRPr lang="en-US" sz="3200" dirty="0"/>
          </a:p>
        </p:txBody>
      </p:sp>
      <p:graphicFrame>
        <p:nvGraphicFramePr>
          <p:cNvPr id="3" name="Augmentation comparison chart" descr=""/>
          <p:cNvGraphicFramePr/>
          <p:nvPr/>
        </p:nvGraphicFramePr>
        <p:xfrm>
          <a:off x="548640" y="128016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elta 1"/>
          <p:cNvSpPr/>
          <p:nvPr/>
        </p:nvSpPr>
        <p:spPr>
          <a:xfrm>
            <a:off x="8092440" y="1280160"/>
            <a:ext cx="354787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75320" y="143560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+0.098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829800" y="14356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Malignant recall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0.608 -&gt; 0.706</a:t>
            </a:r>
            <a:endParaRPr lang="en-US" sz="1400" dirty="0"/>
          </a:p>
        </p:txBody>
      </p:sp>
      <p:sp>
        <p:nvSpPr>
          <p:cNvPr id="7" name="Delta 2"/>
          <p:cNvSpPr/>
          <p:nvPr/>
        </p:nvSpPr>
        <p:spPr>
          <a:xfrm>
            <a:off x="8092440" y="2487168"/>
            <a:ext cx="354787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75320" y="264261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+0.060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829800" y="264261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Malignant F1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0.639 -&gt; 0.699</a:t>
            </a:r>
            <a:endParaRPr lang="en-US" sz="1400" dirty="0"/>
          </a:p>
        </p:txBody>
      </p:sp>
      <p:sp>
        <p:nvSpPr>
          <p:cNvPr id="10" name="Delta 3"/>
          <p:cNvSpPr/>
          <p:nvPr/>
        </p:nvSpPr>
        <p:spPr>
          <a:xfrm>
            <a:off x="8092440" y="3694176"/>
            <a:ext cx="354787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384962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+0.044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829800" y="384962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ROC-AUC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0.901 -&gt; 0.945</a:t>
            </a:r>
            <a:endParaRPr lang="en-US" sz="1400" dirty="0"/>
          </a:p>
        </p:txBody>
      </p:sp>
      <p:sp>
        <p:nvSpPr>
          <p:cNvPr id="13" name="Delta 4"/>
          <p:cNvSpPr/>
          <p:nvPr/>
        </p:nvSpPr>
        <p:spPr>
          <a:xfrm>
            <a:off x="8092440" y="4901184"/>
            <a:ext cx="354787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505663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20 -&gt; 15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9829800" y="505663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Missed malignant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out of 51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with Grad-CAM</a:t>
            </a:r>
            <a:endParaRPr lang="en-US" sz="3200" dirty="0"/>
          </a:p>
        </p:txBody>
      </p:sp>
      <p:pic>
        <p:nvPicPr>
          <p:cNvPr id="3" name="Grad-CAM examples" descr="Three X-rays with Grad-CAM heatma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297" y="1234440"/>
            <a:ext cx="7249886" cy="5074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0" y="1325880"/>
            <a:ext cx="350215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5257"/>
                </a:solidFill>
              </a:rPr>
              <a:t>How it works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Gradients of the predicted class at ResNet50's last block show which regions raised that score.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5257"/>
                </a:solidFill>
              </a:rPr>
              <a:t>Verified genuine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Map changes with the image and the target class, and disappears when trained weights are randomised.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5257"/>
                </a:solidFill>
              </a:rPr>
              <a:t>Right column: a known failure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Malignant tumor predicted benign with 93.9% - the heatmap is on the lesion, yet the answer is wrong.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</a:rPr>
              <a:t>Caution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 the benign pelvis case the map partly covers the 'R' side marker, so the model may use non-anatomical cues.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 and Reliability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Model confidence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Test images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Correct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2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High (&gt;= 90%)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239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95%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Moderate (70-90%)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28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68%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Low (&lt; 70%)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6F51"/>
                          </a:solidFill>
                        </a:rPr>
                        <a:t>21%</a:t>
                      </a:r>
                      <a:endParaRPr lang="en-US" sz="16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B6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566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Confidence tracks reliability: low-confidence predictions are flagged as unreliable in the app's explanation.</a:t>
            </a:r>
            <a:endParaRPr lang="en-US" sz="1400" dirty="0"/>
          </a:p>
        </p:txBody>
      </p:sp>
      <p:sp>
        <p:nvSpPr>
          <p:cNvPr id="5" name="Error findings card"/>
          <p:cNvSpPr/>
          <p:nvPr/>
        </p:nvSpPr>
        <p:spPr>
          <a:xfrm>
            <a:off x="6400800" y="1371600"/>
            <a:ext cx="5239512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75120" y="164592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5257"/>
                </a:solidFill>
              </a:rPr>
              <a:t>31 test errors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15 missed malignant (false negatives) and 16 false alarms.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5257"/>
                </a:solidFill>
              </a:rPr>
              <a:t>Some misses are confident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e.g. IMG001690: malignant, predicted benign at 93.9%.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5257"/>
                </a:solidFill>
              </a:rPr>
              <a:t>Likely causes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Only 240 malignant training images; overlapping appearance; markers and text in images.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- Web Application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97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Screenshot of the running app on a known failure case: a malignant tumor predicted benign (93.9%).</a:t>
            </a:r>
            <a:endParaRPr lang="en-US" sz="1100" dirty="0"/>
          </a:p>
        </p:txBody>
      </p:sp>
      <p:pic>
        <p:nvPicPr>
          <p:cNvPr id="4" name="Demo screenshot" descr="Screenshot of the Gradio web app showing prediction, Grad-CAM and explan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9487"/>
            <a:ext cx="7498080" cy="444190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21040" y="1371600"/>
            <a:ext cx="33192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Upload PNG, JPEG, BMP or TIFF X-rays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Benign / malignant scores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Grad-CAM heatmap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Plain-language explanation with test-set reliability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Clear errors for unreadable, blank or tiny images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Runs on Mac, Windows (.bat) and Google Colab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3" name="Limitation icon 1 circle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Limitation icon 1" descr="Limitation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55338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Class imbalance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7830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342 malignant images; 15 of 51 malignant test cases are missed.</a:t>
            </a:r>
            <a:endParaRPr lang="en-US" sz="1500" dirty="0"/>
          </a:p>
        </p:txBody>
      </p:sp>
      <p:sp>
        <p:nvSpPr>
          <p:cNvPr id="7" name="Limitation icon 2 circle"/>
          <p:cNvSpPr/>
          <p:nvPr/>
        </p:nvSpPr>
        <p:spPr>
          <a:xfrm>
            <a:off x="6172200" y="14173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Limitation icon 2" descr="Limitation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263" y="15533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4944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 patient IDs in BTXRD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17830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Views of one patient may fall in both train and test, so scores may be optimistic.</a:t>
            </a:r>
            <a:endParaRPr lang="en-US" sz="1500" dirty="0"/>
          </a:p>
        </p:txBody>
      </p:sp>
      <p:sp>
        <p:nvSpPr>
          <p:cNvPr id="11" name="Limitation icon 3 circle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Limitation icon 3" descr="Limitation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15358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Single dataset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383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external validation on data from another hospital.</a:t>
            </a:r>
            <a:endParaRPr lang="en-US" sz="1500" dirty="0"/>
          </a:p>
        </p:txBody>
      </p:sp>
      <p:sp>
        <p:nvSpPr>
          <p:cNvPr id="15" name="Limitation icon 4 circle"/>
          <p:cNvSpPr/>
          <p:nvPr/>
        </p:nvSpPr>
        <p:spPr>
          <a:xfrm>
            <a:off x="6172200" y="3017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Limitation icon 4" descr="Limitation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263" y="3153583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4944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One training run per setting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949440" y="3383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Differences between runs include random variation.</a:t>
            </a:r>
            <a:endParaRPr lang="en-US" sz="1500" dirty="0"/>
          </a:p>
        </p:txBody>
      </p:sp>
      <p:sp>
        <p:nvSpPr>
          <p:cNvPr id="19" name="Limitation icon 5 circle"/>
          <p:cNvSpPr/>
          <p:nvPr/>
        </p:nvSpPr>
        <p:spPr>
          <a:xfrm>
            <a:off x="548640" y="46177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Limitation icon 5" descr="Limitation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4753783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 out-of-distribution check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4983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Any image, even a non-X-ray, receives a benign / malignant score.</a:t>
            </a:r>
            <a:endParaRPr lang="en-US" sz="1500" dirty="0"/>
          </a:p>
        </p:txBody>
      </p:sp>
      <p:sp>
        <p:nvSpPr>
          <p:cNvPr id="23" name="Limitation icon 6 circle"/>
          <p:cNvSpPr/>
          <p:nvPr/>
        </p:nvSpPr>
        <p:spPr>
          <a:xfrm>
            <a:off x="6172200" y="46177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Limitation icon 6" descr="Limitation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263" y="4753783"/>
            <a:ext cx="294803" cy="294803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4944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Grad-CAM shows where, not why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6949440" y="4983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Heatmaps can highlight markers; they do not identify radiological signs.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Conclusion number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71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working, explainable bone-tumor classifier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ResNet50 transfer learning on 1,867 BTXRD X-rays, delivered as a web prototype.</a:t>
            </a:r>
            <a:endParaRPr lang="en-US" sz="1500" dirty="0"/>
          </a:p>
        </p:txBody>
      </p:sp>
      <p:sp>
        <p:nvSpPr>
          <p:cNvPr id="7" name="Conclusion number 2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60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Good overall discrimination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71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Accuracy 0.890 and ROC-AUC 0.945 on 281 unseen test X-rays.</a:t>
            </a:r>
            <a:endParaRPr lang="en-US" sz="1500" dirty="0"/>
          </a:p>
        </p:txBody>
      </p:sp>
      <p:sp>
        <p:nvSpPr>
          <p:cNvPr id="11" name="Conclusion number 3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49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Augmentation measurably helps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60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Malignant recall 0.608 -&gt; 0.706 and F1 0.639 -&gt; 0.699 versus no augmentation.</a:t>
            </a:r>
            <a:endParaRPr lang="en-US" sz="1500" dirty="0"/>
          </a:p>
        </p:txBody>
      </p:sp>
      <p:sp>
        <p:nvSpPr>
          <p:cNvPr id="15" name="Conclusion number 4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37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Transparent about uncertainty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349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prediction comes with a heatmap, an explanation and its test-set reliability.</a:t>
            </a:r>
            <a:endParaRPr lang="en-US" sz="1500" dirty="0"/>
          </a:p>
        </p:txBody>
      </p:sp>
      <p:sp>
        <p:nvSpPr>
          <p:cNvPr id="19" name="Takeaway card"/>
          <p:cNvSpPr/>
          <p:nvPr/>
        </p:nvSpPr>
        <p:spPr>
          <a:xfrm>
            <a:off x="8138160" y="1371600"/>
            <a:ext cx="3502152" cy="4480560"/>
          </a:xfrm>
          <a:prstGeom prst="roundRect">
            <a:avLst>
              <a:gd name="adj" fmla="val 31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4"/>
                </a:solidFill>
              </a:rPr>
              <a:t>TAKEAWAY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10312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Suitable as a preliminary screening aid that a radiologist reviews - not as a diagnostic tool.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3" name="Future card 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uture icon 1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uture icon 1" descr="Futur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More malignant data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Multi-centre datasets to reduce imbalance and test generalisation</a:t>
            </a:r>
            <a:endParaRPr lang="en-US" sz="1400" dirty="0"/>
          </a:p>
        </p:txBody>
      </p:sp>
      <p:sp>
        <p:nvSpPr>
          <p:cNvPr id="8" name="Future card 2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uture icon 2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uture icon 2" descr="Futur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54" y="17318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Patient-level split + external test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Remove possible leakage; validate on another hospital's X-rays</a:t>
            </a:r>
            <a:endParaRPr lang="en-US" sz="1400" dirty="0"/>
          </a:p>
        </p:txBody>
      </p:sp>
      <p:sp>
        <p:nvSpPr>
          <p:cNvPr id="13" name="Future card 3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uture icon 3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Future icon 3" descr="Futur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94" y="17318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2286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Tune the decision threshold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Trade some specificity for higher malignant sensitivity</a:t>
            </a:r>
            <a:endParaRPr lang="en-US" sz="1400" dirty="0"/>
          </a:p>
        </p:txBody>
      </p:sp>
      <p:sp>
        <p:nvSpPr>
          <p:cNvPr id="18" name="Future card 4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uture icon 4 circle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Future icon 4" descr="Futur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1093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4663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Compare architectures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5074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EfficientNet, DenseNet, ViT and attention (CBAM) models</a:t>
            </a:r>
            <a:endParaRPr lang="en-US" sz="1400" dirty="0"/>
          </a:p>
        </p:txBody>
      </p:sp>
      <p:sp>
        <p:nvSpPr>
          <p:cNvPr id="23" name="Future card 5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uture icon 5 circle"/>
          <p:cNvSpPr/>
          <p:nvPr/>
        </p:nvSpPr>
        <p:spPr>
          <a:xfrm>
            <a:off x="4526280" y="3977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Future icon 5" descr="Future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954" y="410931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26280" y="4663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Tumor subtype classification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5074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BTXRD labels 9 subtypes, e.g. osteosarcoma, giant cell tumor</a:t>
            </a:r>
            <a:endParaRPr lang="en-US" sz="1400" dirty="0"/>
          </a:p>
        </p:txBody>
      </p:sp>
      <p:sp>
        <p:nvSpPr>
          <p:cNvPr id="28" name="Future card 6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Future icon 6 circle"/>
          <p:cNvSpPr/>
          <p:nvPr/>
        </p:nvSpPr>
        <p:spPr>
          <a:xfrm>
            <a:off x="8275320" y="3977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Future icon 6" descr="Future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994" y="410931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75320" y="4663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Localisation and OOD rejection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5074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Use BTXRD masks for segmentation; reject non-X-ray uploads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[1] He, Y., Pan, I., Bao, B., et al. (2020). Deep learning-based classification of primary bone tumors on radiographs: A preliminary study. EBioMedicine, 62, 103121.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[2] Kwon, et al. (2022). Artificial intelligence-based classification of bone tumors in the proximal femur on plain radiographs: System development and validation. PLOS ONE.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[3] Recommender-based bone tumour classification with radiographs - a link to the past. European Radiology (2024).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[4] Enhancing bone cancer detection through optimized pre-trained deep learning models and explainable AI using the osteosarcoma tumor assessment dataset. Scientific Reports (2025).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[5] Deep learning driven radiographic classification of primary bone tumors using attention augmented hybrid models. Biomedical Signal Processing and Control (2026).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[6] Medical image pretraining-based transfer learning for generalizable and robust diagnosis of bone tumors on radiographs: a multi-center study (2026).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[7] Yao, S., Huang, Y., Wang, X., Zhang, Y., et al. (2025). A radiograph dataset for the classification, localization, and segmentation of primary bone tumors. Scientific Data, 12, 88.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[8] He, K., Zhang, X., Ren, S., Sun, J. (2016). Deep residual learning for image recognition. CVPR.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[9] Selvaraju, R. R., et al. (2017). Grad-CAM: Visual explanations from deep networks via gradient-based localization. ICCV.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ne Tumor Teal">
  <a:themeElements>
    <a:clrScheme name="Bone Tumor Teal">
      <a:dk1>
        <a:srgbClr val="1A1A1A"/>
      </a:dk1>
      <a:lt1>
        <a:srgbClr val="FFFFFF"/>
      </a:lt1>
      <a:dk2>
        <a:srgbClr val="0B2E30"/>
      </a:dk2>
      <a:lt2>
        <a:srgbClr val="E6F0EF"/>
      </a:lt2>
      <a:accent1>
        <a:srgbClr val="0F5257"/>
      </a:accent1>
      <a:accent2>
        <a:srgbClr val="2A9D8F"/>
      </a:accent2>
      <a:accent3>
        <a:srgbClr val="E76F51"/>
      </a:accent3>
      <a:accent4>
        <a:srgbClr val="F4A261"/>
      </a:accent4>
      <a:accent5>
        <a:srgbClr val="8AB6B0"/>
      </a:accent5>
      <a:accent6>
        <a:srgbClr val="5C6B73"/>
      </a:accent6>
      <a:hlink>
        <a:srgbClr val="0F5257"/>
      </a:hlink>
      <a:folHlink>
        <a:srgbClr val="5C6B73"/>
      </a:folHlink>
    </a:clrScheme>
    <a:fontScheme name="Bone Tumor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Bone Tumor Classification Using X-Ray Images - Final Review</dc:title>
  <dc:subject>Major Project Final Review</dc:subject>
  <dc:creator>N. Nandini, N. Rupa Lakshmi, P. Varshitha</dc:creator>
  <cp:lastModifiedBy>N. Nandini, N. Rupa Lakshmi, P. Varshitha</cp:lastModifiedBy>
  <cp:revision>1</cp:revision>
  <dcterms:created xsi:type="dcterms:W3CDTF">2026-10-25T05:02:32Z</dcterms:created>
  <dcterms:modified xsi:type="dcterms:W3CDTF">2026-10-25T05:02:32Z</dcterms:modified>
</cp:coreProperties>
</file>